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2" r:id="rId3"/>
    <p:sldId id="257" r:id="rId4"/>
    <p:sldId id="258" r:id="rId5"/>
    <p:sldId id="259" r:id="rId6"/>
    <p:sldId id="260" r:id="rId7"/>
    <p:sldId id="261" r:id="rId8"/>
    <p:sldId id="273" r:id="rId9"/>
    <p:sldId id="262" r:id="rId10"/>
    <p:sldId id="274" r:id="rId11"/>
    <p:sldId id="263" r:id="rId12"/>
    <p:sldId id="275" r:id="rId13"/>
    <p:sldId id="280" r:id="rId14"/>
    <p:sldId id="279" r:id="rId15"/>
    <p:sldId id="281" r:id="rId16"/>
    <p:sldId id="264" r:id="rId17"/>
    <p:sldId id="276" r:id="rId18"/>
    <p:sldId id="282" r:id="rId19"/>
    <p:sldId id="265" r:id="rId20"/>
    <p:sldId id="277" r:id="rId21"/>
    <p:sldId id="283" r:id="rId22"/>
    <p:sldId id="284" r:id="rId23"/>
    <p:sldId id="285" r:id="rId24"/>
    <p:sldId id="286" r:id="rId25"/>
    <p:sldId id="287" r:id="rId26"/>
    <p:sldId id="288" r:id="rId27"/>
    <p:sldId id="266" r:id="rId28"/>
    <p:sldId id="267" r:id="rId29"/>
    <p:sldId id="268" r:id="rId30"/>
    <p:sldId id="269" r:id="rId31"/>
    <p:sldId id="27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13B"/>
    <a:srgbClr val="2370A6"/>
    <a:srgbClr val="262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26EE6-5E46-80B0-4EDD-F66F57698BFE}" v="81" dt="2025-06-09T12:38:25.933"/>
    <p1510:client id="{A0538D2F-4BA0-5E21-A202-8F0B46ECF42E}" v="232" dt="2025-06-09T12:58:58.551"/>
    <p1510:client id="{B83AB45D-F27C-20C8-BBCD-2AB7E4EF5D5D}" v="1047" dt="2025-06-08T23:14:57.813"/>
    <p1510:client id="{DF6D3C90-2A35-2642-400E-71835192A17C}" v="459" dt="2025-06-09T09:29:41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37364F-419D-482A-90E7-C07EC1363225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B98FB1-5B91-4F8B-B5E6-D683EEFA3B39}">
      <dgm:prSet/>
      <dgm:spPr/>
      <dgm:t>
        <a:bodyPr/>
        <a:lstStyle/>
        <a:p>
          <a:r>
            <a:rPr lang="en-US"/>
            <a:t>Γλώσσα Python</a:t>
          </a:r>
        </a:p>
      </dgm:t>
    </dgm:pt>
    <dgm:pt modelId="{E1D87EB1-84DC-45AC-906F-9352E5929102}" type="parTrans" cxnId="{CE2B849D-7539-42D7-A086-04BC9400EF5B}">
      <dgm:prSet/>
      <dgm:spPr/>
      <dgm:t>
        <a:bodyPr/>
        <a:lstStyle/>
        <a:p>
          <a:endParaRPr lang="en-US"/>
        </a:p>
      </dgm:t>
    </dgm:pt>
    <dgm:pt modelId="{286771E4-C620-40AF-8A08-99EAE9E53B6E}" type="sibTrans" cxnId="{CE2B849D-7539-42D7-A086-04BC9400EF5B}">
      <dgm:prSet/>
      <dgm:spPr/>
      <dgm:t>
        <a:bodyPr/>
        <a:lstStyle/>
        <a:p>
          <a:endParaRPr lang="en-US"/>
        </a:p>
      </dgm:t>
    </dgm:pt>
    <dgm:pt modelId="{112CD19F-82E1-4EAF-B5CF-0C298282D1B1}">
      <dgm:prSet/>
      <dgm:spPr/>
      <dgm:t>
        <a:bodyPr/>
        <a:lstStyle/>
        <a:p>
          <a:r>
            <a:rPr lang="en-US"/>
            <a:t>JSON για αποθήκευση δεδομένων</a:t>
          </a:r>
        </a:p>
      </dgm:t>
    </dgm:pt>
    <dgm:pt modelId="{8FCA7AC0-F9EA-4E0C-B74C-A3095F5B6E79}" type="parTrans" cxnId="{BCC48E39-4CEC-4C66-A41F-33F5832ACBBD}">
      <dgm:prSet/>
      <dgm:spPr/>
      <dgm:t>
        <a:bodyPr/>
        <a:lstStyle/>
        <a:p>
          <a:endParaRPr lang="en-US"/>
        </a:p>
      </dgm:t>
    </dgm:pt>
    <dgm:pt modelId="{99D5911C-1A85-4DC7-B320-FD8C882386BD}" type="sibTrans" cxnId="{BCC48E39-4CEC-4C66-A41F-33F5832ACBBD}">
      <dgm:prSet/>
      <dgm:spPr/>
      <dgm:t>
        <a:bodyPr/>
        <a:lstStyle/>
        <a:p>
          <a:endParaRPr lang="en-US"/>
        </a:p>
      </dgm:t>
    </dgm:pt>
    <dgm:pt modelId="{664FE719-0FEE-4761-99E4-A911C3692442}" type="pres">
      <dgm:prSet presAssocID="{AB37364F-419D-482A-90E7-C07EC136322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2354F5-25BE-4629-9949-8A7625D1FDAD}" type="pres">
      <dgm:prSet presAssocID="{94B98FB1-5B91-4F8B-B5E6-D683EEFA3B39}" presName="root" presStyleCnt="0"/>
      <dgm:spPr/>
    </dgm:pt>
    <dgm:pt modelId="{BE5691C8-6642-4F7C-8DF8-CFE96A94F88E}" type="pres">
      <dgm:prSet presAssocID="{94B98FB1-5B91-4F8B-B5E6-D683EEFA3B39}" presName="rootComposite" presStyleCnt="0"/>
      <dgm:spPr/>
    </dgm:pt>
    <dgm:pt modelId="{E088AEE7-715A-4CD1-8FFB-DD89E0532C3B}" type="pres">
      <dgm:prSet presAssocID="{94B98FB1-5B91-4F8B-B5E6-D683EEFA3B39}" presName="rootText" presStyleLbl="node1" presStyleIdx="0" presStyleCnt="2"/>
      <dgm:spPr>
        <a:solidFill>
          <a:srgbClr val="2370A6"/>
        </a:solidFill>
      </dgm:spPr>
    </dgm:pt>
    <dgm:pt modelId="{B25A7877-B4D1-46D9-96EC-23A700813C84}" type="pres">
      <dgm:prSet presAssocID="{94B98FB1-5B91-4F8B-B5E6-D683EEFA3B39}" presName="rootConnector" presStyleLbl="node1" presStyleIdx="0" presStyleCnt="2"/>
      <dgm:spPr/>
    </dgm:pt>
    <dgm:pt modelId="{35497B6A-07F4-4BF4-BF9B-4A3D34222B7D}" type="pres">
      <dgm:prSet presAssocID="{94B98FB1-5B91-4F8B-B5E6-D683EEFA3B39}" presName="childShape" presStyleCnt="0"/>
      <dgm:spPr/>
    </dgm:pt>
    <dgm:pt modelId="{D608A5F1-352C-4641-A4F5-5CB8E8EC4A3E}" type="pres">
      <dgm:prSet presAssocID="{112CD19F-82E1-4EAF-B5CF-0C298282D1B1}" presName="root" presStyleCnt="0"/>
      <dgm:spPr/>
    </dgm:pt>
    <dgm:pt modelId="{8A9FBFBF-98AA-415B-83E1-8AE0FCE6E352}" type="pres">
      <dgm:prSet presAssocID="{112CD19F-82E1-4EAF-B5CF-0C298282D1B1}" presName="rootComposite" presStyleCnt="0"/>
      <dgm:spPr/>
    </dgm:pt>
    <dgm:pt modelId="{03FE2010-9314-40E5-A411-58CB78751ED0}" type="pres">
      <dgm:prSet presAssocID="{112CD19F-82E1-4EAF-B5CF-0C298282D1B1}" presName="rootText" presStyleLbl="node1" presStyleIdx="1" presStyleCnt="2"/>
      <dgm:spPr/>
    </dgm:pt>
    <dgm:pt modelId="{DE795023-4021-4CD2-89BE-8534DC0FCF2C}" type="pres">
      <dgm:prSet presAssocID="{112CD19F-82E1-4EAF-B5CF-0C298282D1B1}" presName="rootConnector" presStyleLbl="node1" presStyleIdx="1" presStyleCnt="2"/>
      <dgm:spPr/>
    </dgm:pt>
    <dgm:pt modelId="{6C7EF4A8-B5C7-4D36-9898-D4D6368CF9CE}" type="pres">
      <dgm:prSet presAssocID="{112CD19F-82E1-4EAF-B5CF-0C298282D1B1}" presName="childShape" presStyleCnt="0"/>
      <dgm:spPr/>
    </dgm:pt>
  </dgm:ptLst>
  <dgm:cxnLst>
    <dgm:cxn modelId="{A421FA2E-CCA1-437A-BCA1-17C63A252AD8}" type="presOf" srcId="{94B98FB1-5B91-4F8B-B5E6-D683EEFA3B39}" destId="{B25A7877-B4D1-46D9-96EC-23A700813C84}" srcOrd="1" destOrd="0" presId="urn:microsoft.com/office/officeart/2005/8/layout/hierarchy3"/>
    <dgm:cxn modelId="{BCC48E39-4CEC-4C66-A41F-33F5832ACBBD}" srcId="{AB37364F-419D-482A-90E7-C07EC1363225}" destId="{112CD19F-82E1-4EAF-B5CF-0C298282D1B1}" srcOrd="1" destOrd="0" parTransId="{8FCA7AC0-F9EA-4E0C-B74C-A3095F5B6E79}" sibTransId="{99D5911C-1A85-4DC7-B320-FD8C882386BD}"/>
    <dgm:cxn modelId="{F3F36F69-92B9-4812-9B63-4A70639216E4}" type="presOf" srcId="{94B98FB1-5B91-4F8B-B5E6-D683EEFA3B39}" destId="{E088AEE7-715A-4CD1-8FFB-DD89E0532C3B}" srcOrd="0" destOrd="0" presId="urn:microsoft.com/office/officeart/2005/8/layout/hierarchy3"/>
    <dgm:cxn modelId="{2D249877-18C0-41F4-A267-5EB04F977776}" type="presOf" srcId="{112CD19F-82E1-4EAF-B5CF-0C298282D1B1}" destId="{DE795023-4021-4CD2-89BE-8534DC0FCF2C}" srcOrd="1" destOrd="0" presId="urn:microsoft.com/office/officeart/2005/8/layout/hierarchy3"/>
    <dgm:cxn modelId="{CE2B849D-7539-42D7-A086-04BC9400EF5B}" srcId="{AB37364F-419D-482A-90E7-C07EC1363225}" destId="{94B98FB1-5B91-4F8B-B5E6-D683EEFA3B39}" srcOrd="0" destOrd="0" parTransId="{E1D87EB1-84DC-45AC-906F-9352E5929102}" sibTransId="{286771E4-C620-40AF-8A08-99EAE9E53B6E}"/>
    <dgm:cxn modelId="{4934A1AE-0B0B-4767-84B5-6CE5924178F3}" type="presOf" srcId="{AB37364F-419D-482A-90E7-C07EC1363225}" destId="{664FE719-0FEE-4761-99E4-A911C3692442}" srcOrd="0" destOrd="0" presId="urn:microsoft.com/office/officeart/2005/8/layout/hierarchy3"/>
    <dgm:cxn modelId="{D3E027C1-D6D4-420F-9D9F-F7D09B545215}" type="presOf" srcId="{112CD19F-82E1-4EAF-B5CF-0C298282D1B1}" destId="{03FE2010-9314-40E5-A411-58CB78751ED0}" srcOrd="0" destOrd="0" presId="urn:microsoft.com/office/officeart/2005/8/layout/hierarchy3"/>
    <dgm:cxn modelId="{98897DCE-26F9-4EEE-A2E5-DDD58B8565B8}" type="presParOf" srcId="{664FE719-0FEE-4761-99E4-A911C3692442}" destId="{672354F5-25BE-4629-9949-8A7625D1FDAD}" srcOrd="0" destOrd="0" presId="urn:microsoft.com/office/officeart/2005/8/layout/hierarchy3"/>
    <dgm:cxn modelId="{A7BEF2B1-9C02-42F1-AC69-0019B4B95C30}" type="presParOf" srcId="{672354F5-25BE-4629-9949-8A7625D1FDAD}" destId="{BE5691C8-6642-4F7C-8DF8-CFE96A94F88E}" srcOrd="0" destOrd="0" presId="urn:microsoft.com/office/officeart/2005/8/layout/hierarchy3"/>
    <dgm:cxn modelId="{44D9F810-97FE-4F12-A985-3543679D8F65}" type="presParOf" srcId="{BE5691C8-6642-4F7C-8DF8-CFE96A94F88E}" destId="{E088AEE7-715A-4CD1-8FFB-DD89E0532C3B}" srcOrd="0" destOrd="0" presId="urn:microsoft.com/office/officeart/2005/8/layout/hierarchy3"/>
    <dgm:cxn modelId="{1C25925B-280D-4F65-ACEB-16FCBA379EE0}" type="presParOf" srcId="{BE5691C8-6642-4F7C-8DF8-CFE96A94F88E}" destId="{B25A7877-B4D1-46D9-96EC-23A700813C84}" srcOrd="1" destOrd="0" presId="urn:microsoft.com/office/officeart/2005/8/layout/hierarchy3"/>
    <dgm:cxn modelId="{926199B0-A0A9-4603-ABB5-D5946B20EE04}" type="presParOf" srcId="{672354F5-25BE-4629-9949-8A7625D1FDAD}" destId="{35497B6A-07F4-4BF4-BF9B-4A3D34222B7D}" srcOrd="1" destOrd="0" presId="urn:microsoft.com/office/officeart/2005/8/layout/hierarchy3"/>
    <dgm:cxn modelId="{CCF8B39F-A43A-48B3-B0E5-746C05AB4C93}" type="presParOf" srcId="{664FE719-0FEE-4761-99E4-A911C3692442}" destId="{D608A5F1-352C-4641-A4F5-5CB8E8EC4A3E}" srcOrd="1" destOrd="0" presId="urn:microsoft.com/office/officeart/2005/8/layout/hierarchy3"/>
    <dgm:cxn modelId="{8B8A60A1-7BBF-4617-8C5D-75D4F3B553FD}" type="presParOf" srcId="{D608A5F1-352C-4641-A4F5-5CB8E8EC4A3E}" destId="{8A9FBFBF-98AA-415B-83E1-8AE0FCE6E352}" srcOrd="0" destOrd="0" presId="urn:microsoft.com/office/officeart/2005/8/layout/hierarchy3"/>
    <dgm:cxn modelId="{F8B1E40D-0C5D-49CF-9E7B-50472E20A276}" type="presParOf" srcId="{8A9FBFBF-98AA-415B-83E1-8AE0FCE6E352}" destId="{03FE2010-9314-40E5-A411-58CB78751ED0}" srcOrd="0" destOrd="0" presId="urn:microsoft.com/office/officeart/2005/8/layout/hierarchy3"/>
    <dgm:cxn modelId="{F616CC8A-D001-4CD1-A1F2-C2584771C04F}" type="presParOf" srcId="{8A9FBFBF-98AA-415B-83E1-8AE0FCE6E352}" destId="{DE795023-4021-4CD2-89BE-8534DC0FCF2C}" srcOrd="1" destOrd="0" presId="urn:microsoft.com/office/officeart/2005/8/layout/hierarchy3"/>
    <dgm:cxn modelId="{1C3BB93D-7840-4C91-B79B-3348A45ADB33}" type="presParOf" srcId="{D608A5F1-352C-4641-A4F5-5CB8E8EC4A3E}" destId="{6C7EF4A8-B5C7-4D36-9898-D4D6368CF9C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8AEE7-715A-4CD1-8FFB-DD89E0532C3B}">
      <dsp:nvSpPr>
        <dsp:cNvPr id="0" name=""/>
        <dsp:cNvSpPr/>
      </dsp:nvSpPr>
      <dsp:spPr>
        <a:xfrm>
          <a:off x="962" y="1098351"/>
          <a:ext cx="3504344" cy="1752172"/>
        </a:xfrm>
        <a:prstGeom prst="roundRect">
          <a:avLst>
            <a:gd name="adj" fmla="val 10000"/>
          </a:avLst>
        </a:prstGeom>
        <a:solidFill>
          <a:srgbClr val="2370A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Γλώσσα Python</a:t>
          </a:r>
        </a:p>
      </dsp:txBody>
      <dsp:txXfrm>
        <a:off x="52281" y="1149670"/>
        <a:ext cx="3401706" cy="1649534"/>
      </dsp:txXfrm>
    </dsp:sp>
    <dsp:sp modelId="{03FE2010-9314-40E5-A411-58CB78751ED0}">
      <dsp:nvSpPr>
        <dsp:cNvPr id="0" name=""/>
        <dsp:cNvSpPr/>
      </dsp:nvSpPr>
      <dsp:spPr>
        <a:xfrm>
          <a:off x="4381393" y="1098351"/>
          <a:ext cx="3504344" cy="1752172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JSON για αποθήκευση δεδομένων</a:t>
          </a:r>
        </a:p>
      </dsp:txBody>
      <dsp:txXfrm>
        <a:off x="4432712" y="1149670"/>
        <a:ext cx="3401706" cy="1649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A213A7-0C9F-BA0E-8DE5-823C12981AFA}"/>
              </a:ext>
            </a:extLst>
          </p:cNvPr>
          <p:cNvSpPr txBox="1"/>
          <p:nvPr/>
        </p:nvSpPr>
        <p:spPr>
          <a:xfrm>
            <a:off x="2333502" y="2250986"/>
            <a:ext cx="447389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l-GR" sz="2000">
                <a:ea typeface="Calibri"/>
                <a:cs typeface="Calibri"/>
              </a:rPr>
              <a:t>ΕΡΓΑΣΙΑ ΣΤΑ ΠΛΑΙΣΙΑ ΤΗΣ Ε.Θ.Ε. ΠΛΗΠΡΟ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0E416-0348-D56D-E71C-2B535A8EC69D}"/>
              </a:ext>
            </a:extLst>
          </p:cNvPr>
          <p:cNvSpPr txBox="1"/>
          <p:nvPr/>
        </p:nvSpPr>
        <p:spPr>
          <a:xfrm>
            <a:off x="3213307" y="649131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>
                <a:ea typeface="Calibri"/>
                <a:cs typeface="Calibri"/>
              </a:rPr>
              <a:t>ΙΟΥΝΙΟΣ, 2025</a:t>
            </a:r>
            <a:endParaRPr lang="el-G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ED6D0-E065-AB10-42A7-E60B4105F2D2}"/>
              </a:ext>
            </a:extLst>
          </p:cNvPr>
          <p:cNvSpPr txBox="1"/>
          <p:nvPr/>
        </p:nvSpPr>
        <p:spPr>
          <a:xfrm>
            <a:off x="2930209" y="1180595"/>
            <a:ext cx="327999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 sz="2000" b="1">
                <a:latin typeface="Calibri"/>
                <a:ea typeface="Calibri"/>
                <a:cs typeface="Helvetica"/>
              </a:rPr>
              <a:t>ΠΡΟΠΤΥΧΙΑΚΟ ΠΡΟΓΡΑΜΜΑ ΣΠΟΥΔΩΝ "ΠΛΗΡΟΦΟΡΙΚΗ"</a:t>
            </a:r>
            <a:endParaRPr lang="el-GR" sz="2000" b="1">
              <a:ea typeface="Calibri"/>
              <a:cs typeface="Helvetic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5C939-E292-37DE-DA55-FE329F3AEA4A}"/>
              </a:ext>
            </a:extLst>
          </p:cNvPr>
          <p:cNvSpPr txBox="1"/>
          <p:nvPr/>
        </p:nvSpPr>
        <p:spPr>
          <a:xfrm>
            <a:off x="668166" y="4207777"/>
            <a:ext cx="77964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>
                <a:ea typeface="Calibri"/>
                <a:cs typeface="Calibri"/>
              </a:rPr>
              <a:t>ΒΑΣΙΛΕΙΟΥ ΑΛΕΞΑΝΔΡΟΣ, ΚΑΝΙ ΙΩΑΝΝΗΣ ΕΦΡΑΙΜ, ΜΕΡΜΗΓΚΑΣ ΚΩΝΣΤΑΝΤΙΝΟΣ, ΦΡΑΓΚΟΥ ΣΤΥΛΙΑΝΟΣ ΡΑΦΑΗΛ, ΧΡΗΣΤΟΥ ΓΕΩΡΓΙΟΣ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DC645-9EFD-101C-3471-C9493E825496}"/>
              </a:ext>
            </a:extLst>
          </p:cNvPr>
          <p:cNvSpPr txBox="1"/>
          <p:nvPr/>
        </p:nvSpPr>
        <p:spPr>
          <a:xfrm>
            <a:off x="1993061" y="5208206"/>
            <a:ext cx="51627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>
                <a:ea typeface="Calibri"/>
                <a:cs typeface="Calibri"/>
              </a:rPr>
              <a:t>ΕΠΙΒΛΕΠΩΝ ΚΑΘΗΓΗΤΗΣ: ΚΑΠΟΥΛΑΣ ΕΥΑΓΓΕΛΟΣ</a:t>
            </a:r>
            <a:endParaRPr lang="el-G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5AFB8B-4156-357A-FEF2-205DC4D12F19}"/>
              </a:ext>
            </a:extLst>
          </p:cNvPr>
          <p:cNvSpPr txBox="1"/>
          <p:nvPr/>
        </p:nvSpPr>
        <p:spPr>
          <a:xfrm>
            <a:off x="1129048" y="3012365"/>
            <a:ext cx="687727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 sz="2400" b="1" i="1">
                <a:ea typeface="Calibri"/>
                <a:cs typeface="Calibri"/>
              </a:rPr>
              <a:t>ΑΝΑΠΤΥΞΗ ΕΦΑΡΜΟΓΗΣ ΔΙΑΧΕΙΡΙΣΗΣ ΣΥΝΤΑΓΩΝ ΜΑΓΕΙΡΙΚΗΣ</a:t>
            </a:r>
            <a:endParaRPr lang="el-GR" i="1">
              <a:ea typeface="Calibri"/>
              <a:cs typeface="Calibri"/>
            </a:endParaRPr>
          </a:p>
        </p:txBody>
      </p:sp>
      <p:pic>
        <p:nvPicPr>
          <p:cNvPr id="14" name="Εικόνα 13" descr="Εικόνα που περιέχει κείμενο, γραφικά, γραμματοσειρά, γραφιστική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7668ABF2-8F26-F49A-295E-B89A8E9EE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85" y="2504"/>
            <a:ext cx="3192997" cy="11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7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9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14" y="0"/>
            <a:ext cx="5653586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F09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A1DE48-693A-F68A-C4CD-0125F98ED818}"/>
              </a:ext>
            </a:extLst>
          </p:cNvPr>
          <p:cNvSpPr txBox="1"/>
          <p:nvPr/>
        </p:nvSpPr>
        <p:spPr>
          <a:xfrm>
            <a:off x="4400550" y="2194102"/>
            <a:ext cx="3982587" cy="39085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err="1">
                <a:solidFill>
                  <a:schemeClr val="bg1"/>
                </a:solidFill>
              </a:rPr>
              <a:t>Περιεχόμεν</a:t>
            </a:r>
            <a:r>
              <a:rPr lang="en-US">
                <a:solidFill>
                  <a:schemeClr val="bg1"/>
                </a:solidFill>
              </a:rPr>
              <a:t>α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Στόχοι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εφ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ρμογής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Τεχνολογίες</a:t>
            </a:r>
            <a:r>
              <a:rPr lang="en-US" sz="1400">
                <a:solidFill>
                  <a:schemeClr val="bg1"/>
                </a:solidFill>
              </a:rPr>
              <a:t> π</a:t>
            </a:r>
            <a:r>
              <a:rPr lang="en-US" sz="1400" err="1">
                <a:solidFill>
                  <a:schemeClr val="bg1"/>
                </a:solidFill>
              </a:rPr>
              <a:t>ου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χρησιμο</a:t>
            </a:r>
            <a:r>
              <a:rPr lang="en-US" sz="1400">
                <a:solidFill>
                  <a:schemeClr val="bg1"/>
                </a:solidFill>
              </a:rPr>
              <a:t>π</a:t>
            </a:r>
            <a:r>
              <a:rPr lang="en-US" sz="1400" err="1">
                <a:solidFill>
                  <a:schemeClr val="bg1"/>
                </a:solidFill>
              </a:rPr>
              <a:t>οιήθηκ</a:t>
            </a:r>
            <a:r>
              <a:rPr lang="en-US" sz="1400">
                <a:solidFill>
                  <a:schemeClr val="bg1"/>
                </a:solidFill>
              </a:rPr>
              <a:t>αν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Σχεδί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ση</a:t>
            </a:r>
            <a:r>
              <a:rPr lang="en-US" sz="1400">
                <a:solidFill>
                  <a:schemeClr val="bg1"/>
                </a:solidFill>
              </a:rPr>
              <a:t> και </a:t>
            </a:r>
            <a:r>
              <a:rPr lang="en-US" sz="1400" err="1">
                <a:solidFill>
                  <a:schemeClr val="bg1"/>
                </a:solidFill>
              </a:rPr>
              <a:t>λειτουργικότητ</a:t>
            </a:r>
            <a:r>
              <a:rPr lang="en-US" sz="1400">
                <a:solidFill>
                  <a:schemeClr val="bg1"/>
                </a:solidFill>
              </a:rPr>
              <a:t>α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Διάρθρωση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ομάδ</a:t>
            </a:r>
            <a:r>
              <a:rPr lang="en-US" sz="1400">
                <a:solidFill>
                  <a:schemeClr val="bg1"/>
                </a:solidFill>
              </a:rPr>
              <a:t>ας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Κατα</a:t>
            </a:r>
            <a:r>
              <a:rPr lang="en-US" sz="1400" err="1">
                <a:solidFill>
                  <a:schemeClr val="bg1"/>
                </a:solidFill>
              </a:rPr>
              <a:t>χώρηση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συντ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γής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Αν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ζήτηση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συντ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γής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Τρο</a:t>
            </a:r>
            <a:r>
              <a:rPr lang="en-US" sz="1400">
                <a:solidFill>
                  <a:schemeClr val="bg1"/>
                </a:solidFill>
              </a:rPr>
              <a:t>ποπ</a:t>
            </a:r>
            <a:r>
              <a:rPr lang="en-US" sz="1400" err="1">
                <a:solidFill>
                  <a:schemeClr val="bg1"/>
                </a:solidFill>
              </a:rPr>
              <a:t>οίηση</a:t>
            </a:r>
            <a:r>
              <a:rPr lang="en-US" sz="1400">
                <a:solidFill>
                  <a:schemeClr val="bg1"/>
                </a:solidFill>
              </a:rPr>
              <a:t>/</a:t>
            </a:r>
            <a:r>
              <a:rPr lang="en-US" sz="1400" err="1">
                <a:solidFill>
                  <a:schemeClr val="bg1"/>
                </a:solidFill>
              </a:rPr>
              <a:t>δι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γρ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φή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συντ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γής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Εκτέλεση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συντ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γής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Υπ</a:t>
            </a:r>
            <a:r>
              <a:rPr lang="en-US" sz="1400" err="1">
                <a:solidFill>
                  <a:schemeClr val="bg1"/>
                </a:solidFill>
              </a:rPr>
              <a:t>ολογισμός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κόστους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συντ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γής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Calibri"/>
                <a:cs typeface="Calibri"/>
              </a:rPr>
              <a:t>Δι</a:t>
            </a:r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en-US" sz="1400" err="1">
                <a:solidFill>
                  <a:schemeClr val="bg1"/>
                </a:solidFill>
                <a:ea typeface="Calibri"/>
                <a:cs typeface="Calibri"/>
              </a:rPr>
              <a:t>χείριση</a:t>
            </a:r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 π</a:t>
            </a:r>
            <a:r>
              <a:rPr lang="en-US" sz="1400" err="1">
                <a:solidFill>
                  <a:schemeClr val="bg1"/>
                </a:solidFill>
                <a:ea typeface="Calibri"/>
                <a:cs typeface="Calibri"/>
              </a:rPr>
              <a:t>ροϊόντων</a:t>
            </a:r>
            <a:endParaRPr lang="en-US" sz="1400" err="1">
              <a:solidFill>
                <a:schemeClr val="bg1"/>
              </a:solidFill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Απ</a:t>
            </a:r>
            <a:r>
              <a:rPr lang="en-US" sz="1400" err="1">
                <a:solidFill>
                  <a:schemeClr val="bg1"/>
                </a:solidFill>
              </a:rPr>
              <a:t>οτελέσμ</a:t>
            </a:r>
            <a:r>
              <a:rPr lang="en-US" sz="1400">
                <a:solidFill>
                  <a:schemeClr val="bg1"/>
                </a:solidFill>
              </a:rPr>
              <a:t>ατα </a:t>
            </a:r>
            <a:r>
              <a:rPr lang="en-US" sz="1400" err="1">
                <a:solidFill>
                  <a:schemeClr val="bg1"/>
                </a:solidFill>
              </a:rPr>
              <a:t>εφ</a:t>
            </a:r>
            <a:r>
              <a:rPr lang="en-US" sz="1400">
                <a:solidFill>
                  <a:schemeClr val="bg1"/>
                </a:solidFill>
              </a:rPr>
              <a:t>α</a:t>
            </a:r>
            <a:r>
              <a:rPr lang="en-US" sz="1400" err="1">
                <a:solidFill>
                  <a:schemeClr val="bg1"/>
                </a:solidFill>
              </a:rPr>
              <a:t>ρμογής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Προ</a:t>
            </a:r>
            <a:r>
              <a:rPr lang="en-US" sz="1400">
                <a:solidFill>
                  <a:schemeClr val="bg1"/>
                </a:solidFill>
              </a:rPr>
              <a:t>β</a:t>
            </a:r>
            <a:r>
              <a:rPr lang="en-US" sz="1400" err="1">
                <a:solidFill>
                  <a:schemeClr val="bg1"/>
                </a:solidFill>
              </a:rPr>
              <a:t>λήμ</a:t>
            </a:r>
            <a:r>
              <a:rPr lang="en-US" sz="1400">
                <a:solidFill>
                  <a:schemeClr val="bg1"/>
                </a:solidFill>
              </a:rPr>
              <a:t>ατα και </a:t>
            </a:r>
            <a:r>
              <a:rPr lang="en-US" sz="1400" err="1">
                <a:solidFill>
                  <a:schemeClr val="bg1"/>
                </a:solidFill>
              </a:rPr>
              <a:t>λύσεις</a:t>
            </a:r>
            <a:endParaRPr lang="en-US" sz="1400" err="1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Συμ</a:t>
            </a:r>
            <a:r>
              <a:rPr lang="en-US" sz="1400">
                <a:solidFill>
                  <a:schemeClr val="bg1"/>
                </a:solidFill>
              </a:rPr>
              <a:t>π</a:t>
            </a:r>
            <a:r>
              <a:rPr lang="en-US" sz="1400" err="1">
                <a:solidFill>
                  <a:schemeClr val="bg1"/>
                </a:solidFill>
              </a:rPr>
              <a:t>εράσμ</a:t>
            </a:r>
            <a:r>
              <a:rPr lang="en-US" sz="1400">
                <a:solidFill>
                  <a:schemeClr val="bg1"/>
                </a:solidFill>
              </a:rPr>
              <a:t>ατα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Επ</a:t>
            </a:r>
            <a:r>
              <a:rPr lang="en-US" sz="1400" err="1">
                <a:solidFill>
                  <a:schemeClr val="bg1"/>
                </a:solidFill>
              </a:rPr>
              <a:t>όμεν</a:t>
            </a:r>
            <a:r>
              <a:rPr lang="en-US" sz="1400">
                <a:solidFill>
                  <a:schemeClr val="bg1"/>
                </a:solidFill>
              </a:rPr>
              <a:t>α β</a:t>
            </a:r>
            <a:r>
              <a:rPr lang="en-US" sz="1400" err="1">
                <a:solidFill>
                  <a:schemeClr val="bg1"/>
                </a:solidFill>
              </a:rPr>
              <a:t>ήμ</a:t>
            </a:r>
            <a:r>
              <a:rPr lang="en-US" sz="1400">
                <a:solidFill>
                  <a:schemeClr val="bg1"/>
                </a:solidFill>
              </a:rPr>
              <a:t>ατα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33" name="Ομάδα 32">
            <a:extLst>
              <a:ext uri="{FF2B5EF4-FFF2-40B4-BE49-F238E27FC236}">
                <a16:creationId xmlns:a16="http://schemas.microsoft.com/office/drawing/2014/main" id="{033DD213-7BA1-35AC-4513-DB7D8C3863FD}"/>
              </a:ext>
            </a:extLst>
          </p:cNvPr>
          <p:cNvGrpSpPr/>
          <p:nvPr/>
        </p:nvGrpSpPr>
        <p:grpSpPr>
          <a:xfrm>
            <a:off x="505820" y="1552116"/>
            <a:ext cx="2790114" cy="3651886"/>
            <a:chOff x="6920697" y="713772"/>
            <a:chExt cx="1851950" cy="2423955"/>
          </a:xfrm>
        </p:grpSpPr>
        <p:pic>
          <p:nvPicPr>
            <p:cNvPr id="28" name="Εικόνα 27" descr="Εικόνα που περιέχει σχεδίαση, clipart, γραφικά, εικονογράφηση&#10;&#10;Το περιεχόμενο που δημιουργείται από ΑΙ μπορεί να μην είναι σωστό.">
              <a:extLst>
                <a:ext uri="{FF2B5EF4-FFF2-40B4-BE49-F238E27FC236}">
                  <a16:creationId xmlns:a16="http://schemas.microsoft.com/office/drawing/2014/main" id="{068C3A09-6AF8-C1A7-4297-4E8365146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0697" y="713772"/>
              <a:ext cx="1851950" cy="1851950"/>
            </a:xfrm>
            <a:prstGeom prst="rect">
              <a:avLst/>
            </a:prstGeom>
            <a:solidFill>
              <a:srgbClr val="2370A6"/>
            </a:solidFill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3621D0E-0F1B-A185-162C-D3922A2626FF}"/>
                </a:ext>
              </a:extLst>
            </p:cNvPr>
            <p:cNvSpPr txBox="1"/>
            <p:nvPr/>
          </p:nvSpPr>
          <p:spPr>
            <a:xfrm>
              <a:off x="7195595" y="2565721"/>
              <a:ext cx="1311797" cy="572006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defTabSz="685800">
                <a:spcAft>
                  <a:spcPts val="600"/>
                </a:spcAft>
              </a:pPr>
              <a:r>
                <a:rPr lang="el-GR" sz="2700" b="1" kern="1200" err="1">
                  <a:latin typeface="+mn-lt"/>
                  <a:ea typeface="+mn-ea"/>
                  <a:cs typeface="Calibri"/>
                </a:rPr>
                <a:t>Reci</a:t>
              </a:r>
              <a:r>
                <a:rPr lang="el-GR" sz="2700" b="1" kern="1200">
                  <a:latin typeface="+mn-lt"/>
                  <a:ea typeface="+mn-ea"/>
                  <a:cs typeface="Calibri"/>
                </a:rPr>
                <a:t>-PY</a:t>
              </a:r>
            </a:p>
            <a:p>
              <a:pPr algn="ctr" defTabSz="685800">
                <a:spcAft>
                  <a:spcPts val="600"/>
                </a:spcAft>
              </a:pPr>
              <a:r>
                <a:rPr lang="el-GR" sz="1600" kern="1200">
                  <a:latin typeface="+mn-lt"/>
                  <a:ea typeface="+mn-ea"/>
                  <a:cs typeface="Calibri"/>
                </a:rPr>
                <a:t>Ρε 'συ πάει!</a:t>
              </a:r>
              <a:endParaRPr lang="el-GR" sz="160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17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700" kern="1200" err="1">
                <a:latin typeface="+mj-lt"/>
                <a:ea typeface="+mj-ea"/>
                <a:cs typeface="+mj-cs"/>
              </a:rPr>
              <a:t>Στόχοι</a:t>
            </a:r>
            <a:r>
              <a:rPr lang="en-US" sz="4700" kern="1200">
                <a:latin typeface="+mj-lt"/>
                <a:ea typeface="+mj-ea"/>
                <a:cs typeface="+mj-cs"/>
              </a:rPr>
              <a:t> </a:t>
            </a:r>
            <a:r>
              <a:rPr lang="en-US" sz="4700" kern="1200" err="1">
                <a:latin typeface="+mj-lt"/>
                <a:ea typeface="+mj-ea"/>
                <a:cs typeface="+mj-cs"/>
              </a:rPr>
              <a:t>Εφ</a:t>
            </a:r>
            <a:r>
              <a:rPr lang="en-US" sz="4700" kern="1200">
                <a:latin typeface="+mj-lt"/>
                <a:ea typeface="+mj-ea"/>
                <a:cs typeface="+mj-cs"/>
              </a:rPr>
              <a:t>α</a:t>
            </a:r>
            <a:r>
              <a:rPr lang="en-US" sz="4700" kern="1200" err="1">
                <a:latin typeface="+mj-lt"/>
                <a:ea typeface="+mj-ea"/>
                <a:cs typeface="+mj-cs"/>
              </a:rPr>
              <a:t>ρμογής</a:t>
            </a:r>
            <a:endParaRPr lang="el-GR" err="1">
              <a:ea typeface="+mj-ea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07B868-9CFC-0D13-4A35-681E0588AD37}"/>
              </a:ext>
            </a:extLst>
          </p:cNvPr>
          <p:cNvSpPr txBox="1"/>
          <p:nvPr/>
        </p:nvSpPr>
        <p:spPr>
          <a:xfrm>
            <a:off x="966978" y="2902913"/>
            <a:ext cx="7387313" cy="30321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Δυνατότητα χρήσης από άτομα που δε διαθέτουν γνώσεις υπολογιστών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Φιλικότητα προς τον χρήστη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Απλή αλληλεπίδραση μέσω αριθμημένων μενού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Μικρές απαιτήσεις σε αποθηκευτικό χώρο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4300"/>
              <a:t>Τεχνολογίες που Χρησιμοποιήθηκαν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F0913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C208B78A-3C8C-5641-342A-10DF4EDA7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864096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300"/>
              <a:t>Σχεδίαση και Λειτουργικότητα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/>
              <a:t>Καταχώρηση συνταγών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Αναζήτηση συνταγών</a:t>
            </a:r>
          </a:p>
          <a:p>
            <a:pPr>
              <a:defRPr sz="2400"/>
            </a:pPr>
            <a:r>
              <a:rPr lang="el-GR" sz="1700">
                <a:ea typeface="Calibri"/>
                <a:cs typeface="Calibri"/>
              </a:rPr>
              <a:t>Τροποποίηση/διαγραφή συνταγών</a:t>
            </a:r>
            <a:endParaRPr lang="el-GR" sz="1700"/>
          </a:p>
          <a:p>
            <a:pPr>
              <a:defRPr sz="2400"/>
            </a:pPr>
            <a:r>
              <a:rPr lang="el-GR" sz="1700"/>
              <a:t>Εκτέλεση συνταγών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Υπολογισμός κόστους συνταγών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Διαχείριση προϊόντων και τιμών τους</a:t>
            </a:r>
            <a:endParaRPr lang="el-GR" sz="170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Διάρθρωση Ομάδας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  <a:defRPr sz="2400"/>
            </a:pPr>
            <a:r>
              <a:rPr lang="el-GR" sz="1700"/>
              <a:t>Η εργασία μοιράστηκε σε 5 μέλη:</a:t>
            </a:r>
            <a:endParaRPr lang="el-GR" sz="1700">
              <a:ea typeface="Calibri"/>
              <a:cs typeface="Calibri"/>
            </a:endParaRPr>
          </a:p>
          <a:p>
            <a:pPr marL="0" indent="0">
              <a:buNone/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/>
              <a:t>Στέλιος: Καταχώρηση συνταγής, διαχείριση προϊόντων, αρχεία </a:t>
            </a:r>
            <a:r>
              <a:rPr lang="af-ZA" sz="1700"/>
              <a:t>JSON</a:t>
            </a:r>
            <a:endParaRPr lang="af-ZA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Κωστής: Τροποποίηση/διαγραφή συνταγής, δημιουργία κεντρικού μενού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Αλέξανδρος: Εκτέλεση συνταγής</a:t>
            </a:r>
          </a:p>
          <a:p>
            <a:pPr>
              <a:defRPr sz="2400"/>
            </a:pPr>
            <a:r>
              <a:rPr lang="el-GR" sz="1700"/>
              <a:t>Γιάννης: Αναζήτηση συνταγής</a:t>
            </a:r>
          </a:p>
          <a:p>
            <a:pPr>
              <a:defRPr sz="2400"/>
            </a:pPr>
            <a:r>
              <a:rPr lang="el-GR" sz="1700"/>
              <a:t>Γιώργος: Υπολογισμός κόστους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Καταχώρηση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 marL="0" indent="0">
              <a:buNone/>
              <a:defRPr sz="2400"/>
            </a:pPr>
            <a:r>
              <a:rPr lang="el-GR" sz="1700"/>
              <a:t>Ο χρήστης καταχωρεί:</a:t>
            </a:r>
          </a:p>
          <a:p>
            <a:pPr>
              <a:defRPr sz="2400"/>
            </a:pPr>
            <a:r>
              <a:rPr lang="el-GR" sz="1700"/>
              <a:t>Όνομα συνταγής</a:t>
            </a:r>
          </a:p>
          <a:p>
            <a:pPr>
              <a:defRPr sz="2400"/>
            </a:pPr>
            <a:r>
              <a:rPr lang="el-GR" sz="1700"/>
              <a:t>Κατηγορία</a:t>
            </a:r>
          </a:p>
          <a:p>
            <a:pPr>
              <a:defRPr sz="2400"/>
            </a:pPr>
            <a:r>
              <a:rPr lang="el-GR" sz="1700"/>
              <a:t>Βαθμό δυσκολίας</a:t>
            </a:r>
          </a:p>
          <a:p>
            <a:pPr>
              <a:defRPr sz="2400"/>
            </a:pPr>
            <a:r>
              <a:rPr lang="el-GR" sz="1700"/>
              <a:t>Χρόνο εκτέλεσης</a:t>
            </a:r>
          </a:p>
          <a:p>
            <a:pPr>
              <a:defRPr sz="2400"/>
            </a:pPr>
            <a:r>
              <a:rPr lang="el-GR" sz="1700"/>
              <a:t>Υλικά</a:t>
            </a:r>
          </a:p>
          <a:p>
            <a:pPr>
              <a:defRPr sz="2400"/>
            </a:pPr>
            <a:r>
              <a:rPr lang="el-GR" sz="1700"/>
              <a:t>Βήματα εκτέλεσης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 descr="Εικόνα που περιέχει κείμενο, στιγμιότυπο οθόνης, κατάλογο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7109C1FA-AF59-707B-E55D-4E4D1188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781114"/>
            <a:ext cx="8178799" cy="529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Αναζήτηση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 marL="0" indent="0">
              <a:buNone/>
              <a:defRPr sz="2400"/>
            </a:pPr>
            <a:r>
              <a:rPr lang="el-GR" sz="1700"/>
              <a:t>Αναζήτηση με βάση: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Κατηγορία</a:t>
            </a:r>
          </a:p>
          <a:p>
            <a:pPr>
              <a:defRPr sz="2400"/>
            </a:pPr>
            <a:r>
              <a:rPr lang="el-GR" sz="1700"/>
              <a:t>Δυσκολία</a:t>
            </a:r>
          </a:p>
          <a:p>
            <a:pPr>
              <a:defRPr sz="2400"/>
            </a:pPr>
            <a:r>
              <a:rPr lang="el-GR" sz="1700"/>
              <a:t>Χρόνο εκτέλεσης</a:t>
            </a:r>
          </a:p>
          <a:p>
            <a:pPr>
              <a:defRPr sz="2400"/>
            </a:pPr>
            <a:r>
              <a:rPr lang="el-GR" sz="1700"/>
              <a:t>Υλικά</a:t>
            </a:r>
          </a:p>
          <a:p>
            <a:pPr>
              <a:defRPr sz="2400"/>
            </a:pPr>
            <a:endParaRPr lang="el-GR" sz="1700">
              <a:ea typeface="Calibri"/>
              <a:cs typeface="Calibri"/>
            </a:endParaRPr>
          </a:p>
          <a:p>
            <a:pPr marL="0" indent="0">
              <a:buNone/>
              <a:defRPr sz="2400"/>
            </a:pPr>
            <a:r>
              <a:rPr lang="el-GR" sz="1700">
                <a:ea typeface="Calibri"/>
                <a:cs typeface="Calibri"/>
              </a:rPr>
              <a:t>Δυνατότητα εμφάνισης όλων των αποθηκευμένων συνταγών.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στιγμιότυπο οθόνης, γραμματοσειρά, ασπρόμαυρο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1E95916F-9829-F587-84A9-034B44B3D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237" y="643466"/>
            <a:ext cx="640352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4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l-GR" sz="4300"/>
              <a:t>Τροποποίηση / Διαγραφή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 marL="0" indent="0">
              <a:buNone/>
              <a:defRPr sz="2400"/>
            </a:pPr>
            <a:r>
              <a:rPr lang="el-GR" sz="1700"/>
              <a:t>Δυνατότητα αλλαγής:</a:t>
            </a:r>
          </a:p>
          <a:p>
            <a:pPr>
              <a:defRPr sz="2400"/>
            </a:pPr>
            <a:r>
              <a:rPr lang="el-GR" sz="1700"/>
              <a:t>Ονόματος</a:t>
            </a:r>
          </a:p>
          <a:p>
            <a:pPr>
              <a:defRPr sz="2400"/>
            </a:pPr>
            <a:r>
              <a:rPr lang="el-GR" sz="1700"/>
              <a:t>Κατηγορίας</a:t>
            </a:r>
          </a:p>
          <a:p>
            <a:pPr>
              <a:defRPr sz="2400"/>
            </a:pPr>
            <a:r>
              <a:rPr lang="el-GR" sz="1700"/>
              <a:t>Υλικών</a:t>
            </a:r>
          </a:p>
          <a:p>
            <a:pPr>
              <a:defRPr sz="2400"/>
            </a:pPr>
            <a:r>
              <a:rPr lang="el-GR" sz="1700"/>
              <a:t>Βημάτων</a:t>
            </a:r>
          </a:p>
          <a:p>
            <a:pPr>
              <a:defRPr sz="2400"/>
            </a:pPr>
            <a:r>
              <a:rPr lang="el-GR" sz="1700"/>
              <a:t>Χρόνου εκτέλεσης</a:t>
            </a:r>
          </a:p>
          <a:p>
            <a:pPr>
              <a:defRPr sz="2400"/>
            </a:pPr>
            <a:r>
              <a:rPr lang="el-GR" sz="1700"/>
              <a:t>Διαγραφή συνταγής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στιγμιότυπο οθόνη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F6507157-3EED-4021-0CFA-9F2F86C31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35418"/>
            <a:ext cx="8178799" cy="39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74EA5B-B457-4604-3451-FF87EA9D8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430" y="643466"/>
            <a:ext cx="555713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08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70D5159-BC72-76EB-6A67-CDFBAE44E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760667"/>
            <a:ext cx="8178799" cy="53366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516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9D6BEB-93B8-6479-A55B-70F1E987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74077"/>
            <a:ext cx="8178799" cy="410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67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Εκτέλεση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/>
              <a:t>Παρουσίαση βημάτων εκτέλεσης</a:t>
            </a:r>
          </a:p>
          <a:p>
            <a:pPr>
              <a:defRPr sz="2400"/>
            </a:pPr>
            <a:r>
              <a:rPr lang="el-GR" sz="1700"/>
              <a:t>Εμφάνιση χρόνου και υλικών κάθε βήματος</a:t>
            </a:r>
          </a:p>
          <a:p>
            <a:pPr>
              <a:defRPr sz="2400"/>
            </a:pPr>
            <a:r>
              <a:rPr lang="el-GR" sz="1700"/>
              <a:t>Ποσοστό προόδου βάσει χρόνου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>
                <a:ea typeface="Calibri"/>
                <a:cs typeface="Calibri"/>
              </a:rPr>
              <a:t>Ήχος υπενθύμισης με την ολοκλήρωση εκάστου βήματος</a:t>
            </a:r>
          </a:p>
          <a:p>
            <a:pPr>
              <a:defRPr sz="2400"/>
            </a:pPr>
            <a:r>
              <a:rPr lang="el-GR" sz="1700"/>
              <a:t>Ολοκλήρωση συνταγής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Εικόνα που περιέχει κείμενο, στιγμιότυπο οθόνης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E196BCCF-5AB7-B437-918C-575D95A2E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7670" y="643467"/>
            <a:ext cx="4108659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285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Εικόνα που περιέχει κείμενο, στιγμιότυπο οθόνης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B9A53A85-995A-2A81-2A17-BE7ACD0C3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801560"/>
            <a:ext cx="8178799" cy="52548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5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300"/>
              <a:t>Υπολογισμός Κόστους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/>
              <a:t>Επιλογή συνταγής</a:t>
            </a:r>
          </a:p>
          <a:p>
            <a:pPr>
              <a:defRPr sz="2400"/>
            </a:pPr>
            <a:r>
              <a:rPr lang="el-GR" sz="1700"/>
              <a:t>Υπολογισμός κόστους βάσει τιμών προϊόντων</a:t>
            </a:r>
          </a:p>
          <a:p>
            <a:pPr>
              <a:defRPr sz="2400"/>
            </a:pPr>
            <a:r>
              <a:rPr lang="el-GR" sz="1700"/>
              <a:t>Επικαιροποίηση κόστους στο αρχείο συνταγών</a:t>
            </a:r>
            <a:endParaRPr lang="el-GR" sz="170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Εικόνα 1" descr="Εικόνα που περιέχει κείμενο, στιγμιότυπο οθόνη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9B2A89FA-2255-5ADD-90FB-6D3B0CDB3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609216"/>
            <a:ext cx="8178799" cy="363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BE3DB-DE5F-03F3-BC68-0DE9DD8EDD19}"/>
              </a:ext>
            </a:extLst>
          </p:cNvPr>
          <p:cNvSpPr txBox="1"/>
          <p:nvPr/>
        </p:nvSpPr>
        <p:spPr>
          <a:xfrm>
            <a:off x="902193" y="1912622"/>
            <a:ext cx="7387313" cy="30321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4000" err="1"/>
              <a:t>Δι</a:t>
            </a:r>
            <a:r>
              <a:rPr lang="en-US" sz="4000"/>
              <a:t>α</a:t>
            </a:r>
            <a:r>
              <a:rPr lang="en-US" sz="4000" err="1"/>
              <a:t>χείριση</a:t>
            </a:r>
            <a:r>
              <a:rPr lang="en-US" sz="4000"/>
              <a:t> π</a:t>
            </a:r>
            <a:r>
              <a:rPr lang="en-US" sz="4000" err="1"/>
              <a:t>ροϊόντων</a:t>
            </a:r>
            <a:endParaRPr lang="en-US" sz="4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4000" b="1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Κατα</a:t>
            </a:r>
            <a:r>
              <a:rPr lang="en-US" sz="1700" err="1"/>
              <a:t>χώρηση</a:t>
            </a:r>
            <a:r>
              <a:rPr lang="en-US" sz="1700"/>
              <a:t> π</a:t>
            </a:r>
            <a:r>
              <a:rPr lang="en-US" sz="1700" err="1"/>
              <a:t>ροϊόντος</a:t>
            </a:r>
            <a:r>
              <a:rPr lang="en-US" sz="1700"/>
              <a:t> </a:t>
            </a:r>
            <a:r>
              <a:rPr lang="en-US" sz="1700" err="1"/>
              <a:t>στο</a:t>
            </a:r>
            <a:r>
              <a:rPr lang="en-US" sz="1700"/>
              <a:t> α</a:t>
            </a:r>
            <a:r>
              <a:rPr lang="en-US" sz="1700" err="1"/>
              <a:t>ρχείο</a:t>
            </a:r>
            <a:r>
              <a:rPr lang="en-US" sz="1700"/>
              <a:t> JSON</a:t>
            </a:r>
            <a:endParaRPr lang="en-US" sz="1700" err="1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err="1"/>
              <a:t>Εμφάνιση</a:t>
            </a:r>
            <a:r>
              <a:rPr lang="en-US" sz="1700"/>
              <a:t> </a:t>
            </a:r>
            <a:r>
              <a:rPr lang="en-US" sz="1700" err="1"/>
              <a:t>όλων</a:t>
            </a:r>
            <a:r>
              <a:rPr lang="en-US" sz="1700"/>
              <a:t> </a:t>
            </a:r>
            <a:r>
              <a:rPr lang="en-US" sz="1700" err="1"/>
              <a:t>των</a:t>
            </a:r>
            <a:r>
              <a:rPr lang="en-US" sz="1700"/>
              <a:t> απ</a:t>
            </a:r>
            <a:r>
              <a:rPr lang="en-US" sz="1700" err="1"/>
              <a:t>οθηκευμένων</a:t>
            </a:r>
            <a:r>
              <a:rPr lang="en-US" sz="1700"/>
              <a:t> π</a:t>
            </a:r>
            <a:r>
              <a:rPr lang="en-US" sz="1700" err="1"/>
              <a:t>ροϊόντων</a:t>
            </a:r>
            <a:r>
              <a:rPr lang="en-US" sz="1700"/>
              <a:t> </a:t>
            </a:r>
            <a:r>
              <a:rPr lang="en-US" sz="1700" err="1"/>
              <a:t>με</a:t>
            </a:r>
            <a:r>
              <a:rPr lang="en-US" sz="1700"/>
              <a:t> </a:t>
            </a:r>
            <a:r>
              <a:rPr lang="en-US" sz="1700" err="1"/>
              <a:t>τις</a:t>
            </a:r>
            <a:r>
              <a:rPr lang="en-US" sz="1700"/>
              <a:t> </a:t>
            </a:r>
            <a:r>
              <a:rPr lang="en-US" sz="1700" err="1"/>
              <a:t>τιμές</a:t>
            </a:r>
            <a:r>
              <a:rPr lang="en-US" sz="1700"/>
              <a:t> </a:t>
            </a:r>
            <a:r>
              <a:rPr lang="en-US" sz="1700" err="1"/>
              <a:t>τους</a:t>
            </a:r>
            <a:endParaRPr lang="en-US" sz="1700" err="1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err="1"/>
              <a:t>Τρο</a:t>
            </a:r>
            <a:r>
              <a:rPr lang="en-US" sz="1700"/>
              <a:t>ποπ</a:t>
            </a:r>
            <a:r>
              <a:rPr lang="en-US" sz="1700" err="1"/>
              <a:t>οίηση</a:t>
            </a:r>
            <a:r>
              <a:rPr lang="en-US" sz="1700"/>
              <a:t> π</a:t>
            </a:r>
            <a:r>
              <a:rPr lang="en-US" sz="1700" err="1"/>
              <a:t>ροϊόντος</a:t>
            </a:r>
            <a:endParaRPr lang="en-US" sz="1700" err="1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err="1"/>
              <a:t>Δι</a:t>
            </a:r>
            <a:r>
              <a:rPr lang="en-US" sz="1700"/>
              <a:t>α</a:t>
            </a:r>
            <a:r>
              <a:rPr lang="en-US" sz="1700" err="1"/>
              <a:t>γρ</a:t>
            </a:r>
            <a:r>
              <a:rPr lang="en-US" sz="1700"/>
              <a:t>α</a:t>
            </a:r>
            <a:r>
              <a:rPr lang="en-US" sz="1700" err="1"/>
              <a:t>φή</a:t>
            </a:r>
            <a:r>
              <a:rPr lang="en-US" sz="1700"/>
              <a:t> π</a:t>
            </a:r>
            <a:r>
              <a:rPr lang="en-US" sz="1700" err="1"/>
              <a:t>ροϊόντος</a:t>
            </a:r>
            <a:r>
              <a:rPr lang="en-US" sz="1700"/>
              <a:t> από </a:t>
            </a:r>
            <a:r>
              <a:rPr lang="en-US" sz="1700" err="1"/>
              <a:t>το</a:t>
            </a:r>
            <a:r>
              <a:rPr lang="en-US" sz="1700"/>
              <a:t> α</a:t>
            </a:r>
            <a:r>
              <a:rPr lang="en-US" sz="1700" err="1"/>
              <a:t>ρχείο</a:t>
            </a:r>
            <a:r>
              <a:rPr lang="en-US" sz="1700"/>
              <a:t> JSON</a:t>
            </a:r>
            <a:endParaRPr lang="en-US" sz="170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604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στιγμιότυπο οθόνη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5F85AC4A-2AC2-6896-B67E-76F6F6677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660334"/>
            <a:ext cx="8178799" cy="353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3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FAC2-076F-53BE-37A2-DFFAA16A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Εικόνα 1">
            <a:extLst>
              <a:ext uri="{FF2B5EF4-FFF2-40B4-BE49-F238E27FC236}">
                <a16:creationId xmlns:a16="http://schemas.microsoft.com/office/drawing/2014/main" id="{6C826F1F-B383-83C1-45BC-F09C269BC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323850"/>
            <a:ext cx="32575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6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DF21-B013-E5E6-2ECD-587C228C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Εικόνα 1">
            <a:extLst>
              <a:ext uri="{FF2B5EF4-FFF2-40B4-BE49-F238E27FC236}">
                <a16:creationId xmlns:a16="http://schemas.microsoft.com/office/drawing/2014/main" id="{895DE851-3F0E-0EA3-F232-2313ADF18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153" y="0"/>
            <a:ext cx="4141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5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A4265-B79B-17F6-18B4-0F9EB573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Εικόνα 1" descr="Εικόνα που περιέχει κείμενο, στιγμιότυπο οθόνης, κατάλογο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819694D2-C7F3-BD55-9561-3CBDA5D4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463" y="643466"/>
            <a:ext cx="32590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1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645A0-FC43-4B7C-5360-B3CA18C44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Εικόνα που περιέχει κείμενο, κατάλογος, στιγμιότυπο οθόνης, γραμματοσειρ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0DECB198-A7C8-2921-05F3-1B533A044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75" y="643468"/>
            <a:ext cx="259054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9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Αποτελέσματα Εφαρμογής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/>
              <a:t>Φιλικότητα στη χρήση</a:t>
            </a:r>
          </a:p>
          <a:p>
            <a:pPr>
              <a:defRPr sz="2400"/>
            </a:pPr>
            <a:r>
              <a:rPr lang="el-GR" sz="1700"/>
              <a:t>Ευελιξία στην αναζήτηση συνταγών</a:t>
            </a:r>
          </a:p>
          <a:p>
            <a:pPr>
              <a:defRPr sz="2400"/>
            </a:pPr>
            <a:r>
              <a:rPr lang="el-GR" sz="1700"/>
              <a:t>Ακρίβεια στον υπολογισμό κόστους</a:t>
            </a:r>
          </a:p>
          <a:p>
            <a:pPr>
              <a:defRPr sz="2400"/>
            </a:pPr>
            <a:r>
              <a:rPr lang="el-GR" sz="1700"/>
              <a:t>Οπτικοακουστική υποβοήθηση στην εκτέλεση συνταγής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Δυνατότητα μελλοντικής εμπορικής αξιοποίησης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Προβλήματα και Λύσεις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/>
              <a:t>Διαχείριση χρήσης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Αντιστοίχιση υλικών και τιμών</a:t>
            </a:r>
          </a:p>
          <a:p>
            <a:pPr>
              <a:defRPr sz="2400"/>
            </a:pPr>
            <a:r>
              <a:rPr lang="el-GR" sz="1700"/>
              <a:t>Έλεγχοι εγκυρότητας</a:t>
            </a:r>
          </a:p>
          <a:p>
            <a:pPr>
              <a:defRPr sz="2400"/>
            </a:pPr>
            <a:r>
              <a:rPr lang="el-GR" sz="1700"/>
              <a:t>Δοκιμές και αποσφαλμάτωση</a:t>
            </a:r>
          </a:p>
          <a:p>
            <a:pPr>
              <a:defRPr sz="2400"/>
            </a:pPr>
            <a:r>
              <a:rPr lang="el-GR" sz="1700">
                <a:ea typeface="Calibri"/>
                <a:cs typeface="Calibri"/>
              </a:rPr>
              <a:t>Δημιουργία εκτελέσιμου αρχείου το οποίο λειτουργεί χωρίς εγκατάσταση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Συμπεράσματα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>
                <a:ea typeface="Calibri"/>
                <a:cs typeface="Calibri"/>
              </a:rPr>
              <a:t>Εξοικειωθήκαμε στη συνεργασία σε προγραμματιστικό περιβάλλον</a:t>
            </a:r>
          </a:p>
          <a:p>
            <a:pPr>
              <a:defRPr sz="2400"/>
            </a:pPr>
            <a:r>
              <a:rPr lang="el-GR" sz="1700"/>
              <a:t>Αναπτύξαμε δεξιότητες σε </a:t>
            </a:r>
            <a:r>
              <a:rPr lang="af-ZA" sz="1700"/>
              <a:t>Python</a:t>
            </a:r>
            <a:endParaRPr lang="af-ZA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Εφαρμόσαμε αρχές προγραμματισμού και δομές δεδομένων</a:t>
            </a:r>
            <a:endParaRPr lang="el-GR" sz="1700">
              <a:ea typeface="Calibri"/>
              <a:cs typeface="Calibri"/>
            </a:endParaRPr>
          </a:p>
          <a:p>
            <a:pPr>
              <a:defRPr sz="2400"/>
            </a:pPr>
            <a:r>
              <a:rPr lang="el-GR" sz="1700"/>
              <a:t>Ετοιμότητα για μελλοντικά </a:t>
            </a:r>
            <a:r>
              <a:rPr lang="af-ZA" sz="1700"/>
              <a:t>projects</a:t>
            </a:r>
            <a:endParaRPr lang="af-ZA" sz="170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solidFill>
              <a:srgbClr val="F09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l-GR" sz="4700"/>
              <a:t>Επόμενα Βήματα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pPr>
              <a:defRPr sz="2400"/>
            </a:pPr>
            <a:endParaRPr lang="el-GR" sz="1700"/>
          </a:p>
          <a:p>
            <a:pPr>
              <a:defRPr sz="2400"/>
            </a:pPr>
            <a:r>
              <a:rPr lang="el-GR" sz="1700"/>
              <a:t>Προσθήκη εικόνων και πολυμέσων</a:t>
            </a:r>
          </a:p>
          <a:p>
            <a:pPr>
              <a:defRPr sz="2400"/>
            </a:pPr>
            <a:r>
              <a:rPr lang="el-GR" sz="1700"/>
              <a:t>Δημιουργία πλήρους </a:t>
            </a:r>
            <a:r>
              <a:rPr lang="af-ZA" sz="1700"/>
              <a:t>GUI </a:t>
            </a:r>
            <a:r>
              <a:rPr lang="el-GR" sz="1700"/>
              <a:t>με </a:t>
            </a:r>
            <a:r>
              <a:rPr lang="af-ZA" sz="1700"/>
              <a:t>Tkinter</a:t>
            </a:r>
          </a:p>
          <a:p>
            <a:pPr>
              <a:defRPr sz="2400"/>
            </a:pPr>
            <a:r>
              <a:rPr lang="el-GR" sz="1700"/>
              <a:t>Επέκταση λειτουργιών αναζήτησης</a:t>
            </a:r>
          </a:p>
          <a:p>
            <a:pPr>
              <a:defRPr sz="2400"/>
            </a:pPr>
            <a:r>
              <a:rPr lang="el-GR" sz="1700"/>
              <a:t>Βελτιστοποίηση κώδικα και </a:t>
            </a:r>
            <a:r>
              <a:rPr lang="af-ZA" sz="1700"/>
              <a:t>UI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FC15595-BA29-725B-F325-237A8EDDA343}"/>
              </a:ext>
            </a:extLst>
          </p:cNvPr>
          <p:cNvSpPr txBox="1"/>
          <p:nvPr/>
        </p:nvSpPr>
        <p:spPr>
          <a:xfrm>
            <a:off x="1788448" y="2765709"/>
            <a:ext cx="556599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 sz="4000">
                <a:ea typeface="Calibri"/>
                <a:cs typeface="Calibri"/>
              </a:rPr>
              <a:t>Σας ευχαριστούμε για την προσοχή σας!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Στόχοι Εφαρμογής</vt:lpstr>
      <vt:lpstr>Τεχνολογίες που Χρησιμοποιήθηκαν</vt:lpstr>
      <vt:lpstr>Σχεδίαση και Λειτουργικότητα</vt:lpstr>
      <vt:lpstr>Διάρθρωση Ομάδας</vt:lpstr>
      <vt:lpstr>Καταχώρηση Συνταγής</vt:lpstr>
      <vt:lpstr>PowerPoint Presentation</vt:lpstr>
      <vt:lpstr>Αναζήτηση Συνταγής</vt:lpstr>
      <vt:lpstr>PowerPoint Presentation</vt:lpstr>
      <vt:lpstr>Τροποποίηση / Διαγραφή Συνταγής</vt:lpstr>
      <vt:lpstr>PowerPoint Presentation</vt:lpstr>
      <vt:lpstr>PowerPoint Presentation</vt:lpstr>
      <vt:lpstr>PowerPoint Presentation</vt:lpstr>
      <vt:lpstr>PowerPoint Presentation</vt:lpstr>
      <vt:lpstr>Εκτέλεση Συνταγής</vt:lpstr>
      <vt:lpstr>PowerPoint Presentation</vt:lpstr>
      <vt:lpstr>PowerPoint Presentation</vt:lpstr>
      <vt:lpstr>Υπολογισμός Κόστους Συνταγής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Αποτελέσματα Εφαρμογής</vt:lpstr>
      <vt:lpstr>Προβλήματα και Λύσεις</vt:lpstr>
      <vt:lpstr>Συμπεράσματα</vt:lpstr>
      <vt:lpstr>Επόμενα Βήματα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george c</dc:creator>
  <cp:keywords/>
  <dc:description>generated using python-pptx</dc:description>
  <cp:revision>2</cp:revision>
  <dcterms:created xsi:type="dcterms:W3CDTF">2013-01-27T09:14:16Z</dcterms:created>
  <dcterms:modified xsi:type="dcterms:W3CDTF">2025-06-09T13:01:03Z</dcterms:modified>
  <cp:category/>
</cp:coreProperties>
</file>